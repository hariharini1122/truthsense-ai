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3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49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12192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 txBox="1">
            <a:spLocks noGrp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lvl="0" algn="r" defTabSz="457200"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</a:tabLst>
              </a:pPr>
              <a:t>1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8" name="Rectangle 2"/>
          <p:cNvSpPr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10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11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14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</a:tabLst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+mn-lt"/>
                <a:ea typeface="DejaVu Sans" charset="0"/>
                <a:cs typeface="DejaVu Sans" charset="0"/>
              </a:rPr>
              <a:t>2/7/20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  <a:buSzPct val="100000"/>
              <a:buNone/>
            </a:pPr>
            <a:fld id="{9A0DB2DC-4C9A-4742-B13C-FB6460FD3503}" type="slidenum">
              <a:rPr lang="en-US" altLang="en-US" dirty="0">
                <a:cs typeface="DejaVu Sans" charset="0"/>
              </a:rPr>
              <a:pPr lvl="0" eaLnBrk="1" hangingPunct="1">
                <a:buClr>
                  <a:srgbClr val="000000"/>
                </a:buClr>
                <a:buSzPct val="100000"/>
                <a:buNone/>
              </a:pPr>
              <a:t>‹#›</a:t>
            </a:fld>
            <a:endParaRPr lang="en-US" altLang="en-US" dirty="0">
              <a:latin typeface="Arial" panose="020B0604020202020204" pitchFamily="34" charset="0"/>
              <a:cs typeface="DejaVu Sans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Rectangle 2"/>
          <p:cNvSpPr>
            <a:spLocks noGrp="1"/>
          </p:cNvSpPr>
          <p:nvPr>
            <p:ph type="dt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5pPr>
          </a:lstStyle>
          <a:p>
            <a:pPr lvl="0" eaLnBrk="1" hangingPunct="1">
              <a:buClr>
                <a:srgbClr val="000000"/>
              </a:buClr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altLang="en-US" sz="1200">
                <a:solidFill>
                  <a:srgbClr val="8B8B8B"/>
                </a:solidFill>
                <a:latin typeface="Calibri" panose="020F0502020204030204" charset="0"/>
                <a:ea typeface="DejaVu Sans" charset="0"/>
              </a:rPr>
              <a:t>2/7/20</a:t>
            </a:r>
          </a:p>
        </p:txBody>
      </p:sp>
      <p:sp>
        <p:nvSpPr>
          <p:cNvPr id="1048583" name="Rectangle 4"/>
          <p:cNvSpPr>
            <a:spLocks noGrp="1"/>
          </p:cNvSpPr>
          <p:nvPr>
            <p:ph type="sldNum" idx="10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5pPr>
          </a:lstStyle>
          <a:p>
            <a:pPr lvl="0" algn="r" eaLnBrk="1" hangingPunct="1">
              <a:buClr>
                <a:srgbClr val="000000"/>
              </a:buClr>
              <a:buFont typeface="Times New Roman" panose="02020603050405020304" pitchFamily="18" charset="0"/>
              <a:buNone/>
            </a:pPr>
            <a:fld id="{566ABCEB-ACFC-4714-9973-3DA970169C29}" type="slidenum">
              <a:rPr lang="en-US" altLang="en-US" sz="1200">
                <a:solidFill>
                  <a:srgbClr val="8B8B8B"/>
                </a:solidFill>
                <a:latin typeface="Calibri" panose="020F0502020204030204" charset="0"/>
                <a:ea typeface="DejaVu Sans" charset="0"/>
              </a:rPr>
              <a:pPr lvl="0" algn="r" eaLnBrk="1" hangingPunct="1"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‹#›</a:t>
            </a:fld>
            <a:endParaRPr lang="en-US" altLang="en-US" sz="1200">
              <a:solidFill>
                <a:srgbClr val="8B8B8B"/>
              </a:solidFill>
              <a:latin typeface="Calibri" panose="020F0502020204030204" charset="0"/>
              <a:ea typeface="DejaVu Sans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4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5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1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87" r:id="rId12"/>
    <p:sldLayoutId id="214748368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/>
          </p:cNvSpPr>
          <p:nvPr>
            <p:ph type="subTitle"/>
          </p:nvPr>
        </p:nvSpPr>
        <p:spPr>
          <a:xfrm>
            <a:off x="695400" y="3729038"/>
            <a:ext cx="3805480" cy="1665922"/>
          </a:xfrm>
          <a:solidFill>
            <a:srgbClr val="FFFFFF">
              <a:alpha val="100000"/>
            </a:srgbClr>
          </a:solidFill>
        </p:spPr>
        <p:txBody>
          <a:bodyPr vert="horz" wrap="square" lIns="91440" tIns="45720" rIns="91440" bIns="45720" anchor="t" anchorCtr="0"/>
          <a:lstStyle>
            <a:lvl1pPr marL="0" lvl="0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  <a:lvl2pPr marL="457200" lvl="1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2pPr>
            <a:lvl3pPr marL="914400" lvl="2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3pPr>
            <a:lvl4pPr marL="1371600" lvl="3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4pPr>
            <a:lvl5pPr marL="1828800" lvl="4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5pPr>
          </a:lstStyle>
          <a:p>
            <a:pPr lvl="0" algn="l" defTabSz="457200" eaLnBrk="1" hangingPunct="1">
              <a:lnSpc>
                <a:spcPct val="170000"/>
              </a:lnSpc>
              <a:spcBef>
                <a:spcPts val="365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</a:t>
            </a:r>
          </a:p>
        </p:txBody>
      </p:sp>
      <p:sp>
        <p:nvSpPr>
          <p:cNvPr id="5123" name="Rectangle 2"/>
          <p:cNvSpPr/>
          <p:nvPr/>
        </p:nvSpPr>
        <p:spPr>
          <a:xfrm>
            <a:off x="1679575" y="-1684337"/>
            <a:ext cx="3543300" cy="35147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512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96" y="360363"/>
            <a:ext cx="1066800" cy="105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Rectangle 4"/>
          <p:cNvSpPr/>
          <p:nvPr/>
        </p:nvSpPr>
        <p:spPr>
          <a:xfrm>
            <a:off x="1901896" y="657191"/>
            <a:ext cx="8437563" cy="2673637"/>
          </a:xfrm>
          <a:prstGeom prst="rect">
            <a:avLst/>
          </a:prstGeom>
          <a:noFill/>
          <a:ln w="9525">
            <a:noFill/>
          </a:ln>
        </p:spPr>
        <p:txBody>
          <a:bodyPr lIns="90000" tIns="45000" rIns="90000" bIns="45000">
            <a:spAutoFit/>
          </a:bodyPr>
          <a:lstStyle/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r>
              <a:rPr lang="en-US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K.RAMAKRISHNAN COLLEGE OF TECHNOLOGY</a:t>
            </a:r>
          </a:p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r>
              <a:rPr lang="en-US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(AUTONOMOUS), TRICHY</a:t>
            </a:r>
            <a:br>
              <a:rPr lang="en-US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endParaRPr lang="en-US" altLang="en-US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ts val="2530"/>
              </a:lnSpc>
              <a:spcBef>
                <a:spcPts val="475"/>
              </a:spcBef>
            </a:pPr>
            <a:r>
              <a:rPr lang="en-US" sz="2000" b="1" spc="-10" dirty="0">
                <a:latin typeface="Times New Roman"/>
                <a:cs typeface="Times New Roman"/>
              </a:rPr>
              <a:t>DEPARTMENT</a:t>
            </a:r>
            <a:r>
              <a:rPr lang="en-US" sz="2000" b="1" spc="-6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OF</a:t>
            </a:r>
            <a:r>
              <a:rPr lang="en-US" sz="2000" b="1" spc="-10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ARTIFICIAL</a:t>
            </a:r>
            <a:r>
              <a:rPr lang="en-US" sz="2000" b="1" spc="-6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INTELLIGENCE </a:t>
            </a:r>
            <a:r>
              <a:rPr lang="en-US" sz="2000" b="1" dirty="0">
                <a:latin typeface="Times New Roman"/>
                <a:cs typeface="Times New Roman"/>
              </a:rPr>
              <a:t>AND</a:t>
            </a:r>
            <a:r>
              <a:rPr lang="en-US" sz="2000" b="1" spc="-6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DATA</a:t>
            </a:r>
            <a:r>
              <a:rPr lang="en-US" sz="2000" b="1" spc="-6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SCIENCE</a:t>
            </a:r>
            <a:endParaRPr lang="en-US" sz="2000" dirty="0">
              <a:latin typeface="Times New Roman"/>
              <a:cs typeface="Times New Roman"/>
            </a:endParaRPr>
          </a:p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endParaRPr lang="en-US" alt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AGB1303-AI PROBLEM SOLVING TECHNIQUES</a:t>
            </a:r>
          </a:p>
        </p:txBody>
      </p:sp>
      <p:pic>
        <p:nvPicPr>
          <p:cNvPr id="512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946" y="476672"/>
            <a:ext cx="1154112" cy="110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Google Shape;299;p1"/>
          <p:cNvSpPr txBox="1">
            <a:spLocks/>
          </p:cNvSpPr>
          <p:nvPr/>
        </p:nvSpPr>
        <p:spPr>
          <a:xfrm>
            <a:off x="348576" y="3528931"/>
            <a:ext cx="5168304" cy="2671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PRESENTED BY                                                                                               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GEETHAN K                  - 2403811724321026</a:t>
            </a: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DHIVIN M         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- 2403811724321020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HARIHARAVASAN V  -2403811724321029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HARIHARINI R             -2403811724322030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																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05600" y="3564495"/>
            <a:ext cx="6096000" cy="202517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70000"/>
              </a:lnSpc>
              <a:buSzPts val="1800"/>
            </a:pPr>
            <a:r>
              <a:rPr lang="en-US" sz="18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</a:t>
            </a:r>
            <a:endParaRPr lang="en-US" sz="3200" dirty="0"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70000"/>
              </a:lnSpc>
              <a:spcBef>
                <a:spcPts val="365"/>
              </a:spcBef>
              <a:buSzPts val="1800"/>
            </a:pP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Ms. ADEEBA AAISHA F</a:t>
            </a:r>
          </a:p>
          <a:p>
            <a:pPr lvl="0">
              <a:lnSpc>
                <a:spcPct val="170000"/>
              </a:lnSpc>
              <a:spcBef>
                <a:spcPts val="365"/>
              </a:spcBef>
              <a:buSzPts val="1800"/>
            </a:pP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TA /AIDS </a:t>
            </a:r>
          </a:p>
          <a:p>
            <a:pPr lvl="0">
              <a:lnSpc>
                <a:spcPct val="170000"/>
              </a:lnSpc>
              <a:spcBef>
                <a:spcPts val="365"/>
              </a:spcBef>
              <a:buSzPts val="1800"/>
            </a:pPr>
            <a:r>
              <a:rPr lang="en-US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D03F-7660-ADCC-510D-2723A69D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28" y="2737740"/>
            <a:ext cx="10361084" cy="1468438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TRUTHSENSE AI: A CONTEXT-AWARE FAKE NEWS DETECTION FRAMEWORK USING ARTIFICIAL INTELLIGENCE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BD891-AAF0-BAB7-75ED-E33115EDD936}"/>
              </a:ext>
            </a:extLst>
          </p:cNvPr>
          <p:cNvSpPr>
            <a:spLocks noGrp="1"/>
          </p:cNvSpPr>
          <p:nvPr>
            <p:ph type="dt"/>
          </p:nvPr>
        </p:nvSpPr>
        <p:spPr>
          <a:xfrm>
            <a:off x="894081" y="2425065"/>
            <a:ext cx="10361084" cy="1468438"/>
          </a:xfrm>
        </p:spPr>
        <p:txBody>
          <a:bodyPr/>
          <a:lstStyle/>
          <a:p>
            <a:pPr lvl="0" eaLnBrk="1" hangingPunct="1">
              <a:buClr>
                <a:srgbClr val="000000"/>
              </a:buClr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altLang="en-US" sz="1200" dirty="0">
                <a:solidFill>
                  <a:srgbClr val="8B8B8B"/>
                </a:solidFill>
                <a:latin typeface="Calibri" panose="020F0502020204030204" charset="0"/>
                <a:ea typeface="DejaVu Sans" charset="0"/>
              </a:rPr>
              <a:t>2/7/20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8AF2BE7-9FCA-A6AA-8A52-28F168A46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06" y="399291"/>
            <a:ext cx="1066800" cy="1057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9FFBF96E-9272-FBC5-A68B-9129AB368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112" y="374793"/>
            <a:ext cx="1154112" cy="110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7"/>
          <p:cNvSpPr/>
          <p:nvPr/>
        </p:nvSpPr>
        <p:spPr>
          <a:xfrm>
            <a:off x="4315100" y="582712"/>
            <a:ext cx="41177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   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4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sz="30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1056668" y="1363752"/>
            <a:ext cx="10520363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Architecture diagram</a:t>
            </a: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Methodology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Existing system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Proposed system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Conclusion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Future enhancement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39395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23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97173" y="29178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 b="0" i="0" u="none" strike="noStrike" cap="non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 txBox="1">
            <a:spLocks noGrp="1"/>
          </p:cNvSpPr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38195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3833" y="39592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2159000" y="1740309"/>
            <a:ext cx="8643942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TruthSense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AI is an AI-based system for detecting fake news.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uses Machine Learning and Natural Language Processing (NLP).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analyzes news content to identify fake or real information.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provides fast and accurate detection results.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helps reduce the spread of misinformation.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improves user trust through reliable predictions.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supports users in identifying trustworthy news.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370" y="22400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07308" y="2608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 txBox="1"/>
          <p:nvPr/>
        </p:nvSpPr>
        <p:spPr>
          <a:xfrm>
            <a:off x="2351584" y="1844824"/>
            <a:ext cx="77049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fake news automatically using AI.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spread of misinformation.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prediction accuracy using Machine Learning.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explainable results using Explainable AI (XAI).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users in making informed decisions.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scalable and real-time fake news verification system.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377440" y="2219960"/>
            <a:ext cx="7200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https://docs.google.com/spreadsheets/d/1tdvZ6scOht_aZ4ScR0ofBAgpTPbIFu6H/edit?gid=1237255902#gid=1237255902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82392" y="1355395"/>
            <a:ext cx="10759440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1.Data Collection and Preprocessing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Collect real and fake news articles from reliable datasets and news sources.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Clean the data by removing duplicates, URLs, special characters, and irrelevant content.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Perform tokenization, stop-word removal, and lemmatization.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2.Feature Extraction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Extract textual features such as keywords, word frequency, sentiment, and linguistic patterns.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Extract contextual features such as source credibility, publication date, and related information.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Convert text into numerical representations using TF-IDF or Transformer embeddings.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3.AI Model Development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Train machine-learning/deep-learning models such as SVM, Random Forest, LSTM, or BERT.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Combine textual and contextual features for improved fake news detection.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Classify news as real, fake, or suspicious.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51840" y="1737360"/>
            <a:ext cx="1075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4319" y="1689904"/>
            <a:ext cx="947966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4.Model Training and Evaluation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Divide the dataset into training, validation, and testing sets.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Train and optimize the selected AI models.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Evaluate performance using accuracy, precision, recall, F1-score, and confusion matrix.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5.Framework Implementation and Validation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Develop the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TruthSense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AI system to accept news content as input.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Generate a prediction with a confidence score and contextual explanation.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Validate the system using unseen news samples and analyze its effectiveness.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/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 txBox="1"/>
          <p:nvPr/>
        </p:nvSpPr>
        <p:spPr>
          <a:xfrm>
            <a:off x="1828800" y="1362075"/>
            <a:ext cx="9661525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fact-checking process.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and expensive.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Depends on human experts.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detect fake news in real time.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efficiency for large datasets.</a:t>
            </a:r>
          </a:p>
          <a:p>
            <a:pPr marL="457200" lvl="0">
              <a:lnSpc>
                <a:spcPct val="150000"/>
              </a:lnSpc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>
              <a:lnSpc>
                <a:spcPct val="150000"/>
              </a:lnSpc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Disadvantages: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verification.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errors.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operational cost.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Delayed response.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r>
              <a:rPr lang="en-US" sz="2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35B97D-BE66-ABD4-6466-B6B56D8E9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923" y="1362075"/>
            <a:ext cx="4994787" cy="5048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1809136" y="1702375"/>
            <a:ext cx="9320980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>
              <a:lnSpc>
                <a:spcPct val="150000"/>
              </a:lnSpc>
            </a:pP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TruthSense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uses NLP, Machine Learning, and Explainable AI to detect fake news automatically.</a:t>
            </a:r>
          </a:p>
          <a:p>
            <a:pPr marL="457200" lvl="0">
              <a:lnSpc>
                <a:spcPct val="150000"/>
              </a:lnSpc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fake news classification.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NLP-based text analysis.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prediction.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 for transparency.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framework.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4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2063550" y="1727025"/>
            <a:ext cx="8272800" cy="486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Detects fake news using Artificial Intelligence.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the accuracy of news verification.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Reduces the spread of misinformation.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Provides explainable and understandable predictions.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Enhances user trust in online information.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Supports media organizations and educational institutions.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Promotes authentic and reliable information sharing.</a:t>
            </a:r>
          </a:p>
          <a:p>
            <a:pPr marL="457200" lvl="0" algn="just">
              <a:lnSpc>
                <a:spcPct val="150000"/>
              </a:lnSpc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             </a:t>
            </a:r>
            <a:endParaRPr sz="3200"/>
          </a:p>
        </p:txBody>
      </p:sp>
      <p:sp>
        <p:nvSpPr>
          <p:cNvPr id="287" name="Google Shape;287;p9"/>
          <p:cNvSpPr txBox="1">
            <a:spLocks noGrp="1"/>
          </p:cNvSpPr>
          <p:nvPr>
            <p:ph type="body" idx="1"/>
          </p:nvPr>
        </p:nvSpPr>
        <p:spPr>
          <a:xfrm>
            <a:off x="1680665" y="1570036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Multilingual fake news detection.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Image and video misinformation detection.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Social media sentiment analysis.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Integration with browser extensions.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Mobile application support.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Real-time online news verification.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Hybrid AI models for improved accuracy.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